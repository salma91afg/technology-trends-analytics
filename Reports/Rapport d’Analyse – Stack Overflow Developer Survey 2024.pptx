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91" r:id="rId3"/>
    <p:sldId id="290" r:id="rId4"/>
    <p:sldId id="257" r:id="rId5"/>
    <p:sldId id="258" r:id="rId6"/>
    <p:sldId id="259" r:id="rId7"/>
    <p:sldId id="262" r:id="rId8"/>
    <p:sldId id="261" r:id="rId9"/>
    <p:sldId id="260" r:id="rId10"/>
    <p:sldId id="263" r:id="rId11"/>
    <p:sldId id="265" r:id="rId12"/>
    <p:sldId id="266" r:id="rId13"/>
    <p:sldId id="267" r:id="rId14"/>
    <p:sldId id="269" r:id="rId15"/>
    <p:sldId id="264" r:id="rId16"/>
    <p:sldId id="268" r:id="rId17"/>
    <p:sldId id="270" r:id="rId18"/>
    <p:sldId id="271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  <p:sldId id="286" r:id="rId32"/>
    <p:sldId id="287" r:id="rId33"/>
    <p:sldId id="289" r:id="rId34"/>
    <p:sldId id="288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1BF7A-CCFB-46ED-AEC3-26B7145C49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91F5A-AE37-46E4-B539-CA05CBAE1AC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7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229B1B-FABC-FD0F-7EBE-AEEA6A57A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098857-0A48-49BC-1294-B0039486E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0D558B-9DD8-7D86-6122-17F9937A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CBF2-7337-4EC2-B791-47AFAC058ACF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FECC71-8147-D6A0-E4B7-97C4BC522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9D1E3E-0027-37C3-6081-CFA90C9F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0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DB0D0-A597-67D0-5C03-4188B320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77E97A-53BD-B7C0-A160-211573881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4620B8-6DFA-6892-3940-5EA6CD65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64DD-8982-4C55-9C83-F34AA7BAB09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2E11B4-2D1D-D7E5-EBA0-407DDFAE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D39531-4233-0EE5-5BF3-65F4B854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3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601E7-D4B8-43C6-DC33-2415AB46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5DF68E-7A47-64A9-39DA-334E9819F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0239CA-ED00-F02B-E59E-F3400BC0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DE2C-4579-4F6D-8207-F6AD638E439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82776B-7F3F-21A7-5E66-9C68E577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6D8E19-34CB-EF37-1DEE-7253D709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4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03F79C-02C2-B19C-7396-52B8417B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B716CC-E864-6051-3058-E97619DD8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2F14D5-E627-A4C3-3A7C-4AD4B480E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DD9DD2-FE64-FB6F-40D6-2196C9E8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49FE-5231-4F06-BB55-C47887FCD395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5021F3-30EB-1081-A8FE-BDB870281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072509-5928-D18C-8155-62D50507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B6DD49-86CD-093C-C658-C0389D8F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280585-5F2F-E92C-D057-EE9C40EEE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C186D4-560F-A076-DA06-C3D31F73F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BB6DCC3-1ABA-EF1D-52B9-05CEAA8EC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F36A96-1F20-2076-0784-D7A18795A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1CFEBD4-5F0E-D685-8588-F9B7F5C7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C67D-015E-48C9-842E-A4DFC11F1ED7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AE94179-364D-A6FC-AD53-B476178B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AA6E87E-35E8-BAC1-11D8-59DEA51F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1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6AFBA-6444-81EC-FF4C-7BF16B4A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DB789A-63D7-415A-82CE-962F32AF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8B6-AD1B-4741-8547-A9D4ACCCA449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24227A-76E5-2088-D2DC-CE726A14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4D3411-8796-A25B-9AE0-D6613995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2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87F8A5-295C-0629-FFBB-3D04B3E8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9547-6049-4802-87A8-AAB1446BDE6F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876BF7-93E7-4F12-0884-870D7B82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B9A7B6-BD26-D4E2-9A49-18120C419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8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85A872-E17C-DC47-66D1-39B18CB7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392DF-01E9-57E1-CB25-2CDB724BC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7758F3-B21B-C558-7461-5FB33D5A5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D25974-3063-E3EB-8A03-106BF7DB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1E0E-928B-4303-81D9-7C103AF9C919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8CE6BE-F1D1-4FFA-D764-E55D7516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53D8B5-2978-A543-E699-432D25A7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9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8B83AC-F08D-6B96-07AD-2D67CA60A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82DDCC1-3C6E-9562-4B4F-62FF3A402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FCCF79-162E-95B8-6F64-EE6FEE5E2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78F46F-F3B8-43AA-1A37-FC2080C7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C48A-06C1-4E63-A8B0-291ECACC81B7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777FAA-7BE9-44C7-285A-99C79957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63C02F-39A4-260F-E985-725BF253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7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415E72-FD9D-285D-408D-888ED745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903452-259E-4F7A-CB21-A66EDE363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34F942-E0F1-C884-F48D-177F0EF7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0578-2857-404D-A249-66F72F3F392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39127F-4BB3-BF84-8235-F66C029D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689A02-80DE-E04C-8762-7796EE97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80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65684FC-23AE-7292-4CB3-7B044E470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682582-2F8C-28BA-AF6D-F1E08314C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62C819-A878-B2A8-95F4-2F60F3C0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450-45EF-457D-AEB8-44039238440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02500B-D836-DB42-3368-3C46BD2D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4AD347-D361-35CD-0A14-E8FF5280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6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D5F490B-4DCE-A24D-DAA4-753F8B30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2AA23B-571D-FCEB-4C63-2BBB6A32B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48C7B6-813C-49FB-ABA5-96E184CD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356C5-54DD-4956-A953-C4E1D5EE1366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BB15BB-832C-44B8-931B-4F663AC33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50BD57-2F93-703C-7622-3C917BE4C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AEB04-2D71-43B8-BA68-B2D3B4CEECF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7EF222-DEEB-9022-4F24-20531700C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17813" y="0"/>
            <a:ext cx="4274187" cy="3878826"/>
          </a:xfrm>
          <a:prstGeom prst="rect">
            <a:avLst/>
          </a:prstGeom>
          <a:noFill/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C0FE59B-1084-1049-1B9D-F77F31C0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99767" y="98691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Analyse des tendances technologiques des développeurs – Survey 2024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95CB45-240C-6C3A-7FF4-DA48D3010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5794" y="4215325"/>
            <a:ext cx="9144000" cy="1655762"/>
          </a:xfrm>
        </p:spPr>
        <p:txBody>
          <a:bodyPr/>
          <a:lstStyle/>
          <a:p>
            <a:r>
              <a:rPr lang="fr-FR" b="1" noProof="0" dirty="0">
                <a:solidFill>
                  <a:schemeClr val="accent1">
                    <a:lumMod val="50000"/>
                  </a:schemeClr>
                </a:solidFill>
              </a:rPr>
              <a:t>Projet complet d’analyse multi-sources : API, Web </a:t>
            </a:r>
            <a:r>
              <a:rPr lang="fr-FR" b="1" noProof="0" dirty="0" err="1">
                <a:solidFill>
                  <a:schemeClr val="accent1">
                    <a:lumMod val="50000"/>
                  </a:schemeClr>
                </a:solidFill>
              </a:rPr>
              <a:t>Scraping</a:t>
            </a:r>
            <a:r>
              <a:rPr lang="fr-FR" b="1" noProof="0" dirty="0">
                <a:solidFill>
                  <a:schemeClr val="accent1">
                    <a:lumMod val="50000"/>
                  </a:schemeClr>
                </a:solidFill>
              </a:rPr>
              <a:t>, Survey Stack </a:t>
            </a:r>
            <a:r>
              <a:rPr lang="fr-FR" b="1" noProof="0" dirty="0" err="1">
                <a:solidFill>
                  <a:schemeClr val="accent1">
                    <a:lumMod val="50000"/>
                  </a:schemeClr>
                </a:solidFill>
              </a:rPr>
              <a:t>Overflow</a:t>
            </a:r>
            <a:r>
              <a:rPr lang="fr-FR" b="1" noProof="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9F66DB4-9DF5-8728-7486-FA9D3E4A56FD}"/>
              </a:ext>
            </a:extLst>
          </p:cNvPr>
          <p:cNvSpPr txBox="1"/>
          <p:nvPr/>
        </p:nvSpPr>
        <p:spPr>
          <a:xfrm>
            <a:off x="175022" y="6300351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noProof="0" dirty="0"/>
              <a:t>Réalisation : </a:t>
            </a:r>
            <a:r>
              <a:rPr lang="fr-FR" b="1" i="1" noProof="0" dirty="0"/>
              <a:t>Salma Djaid — Décembre</a:t>
            </a:r>
            <a:r>
              <a:rPr lang="fr-FR" b="1" noProof="0" dirty="0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4AA78E-BCCA-947F-4DE1-AF5F1CB5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0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CA75EE-BBDD-9916-447A-7398EF72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Résumé exécutif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33317F-ADD5-A2D9-E1E6-359BBF72E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spcBef>
                <a:spcPts val="1800"/>
              </a:spcBef>
            </a:pPr>
            <a:r>
              <a:rPr lang="fr-FR" sz="2600" dirty="0"/>
              <a:t>Analyse intégrée basée sur trois sources : </a:t>
            </a:r>
            <a:r>
              <a:rPr lang="fr-FR" sz="2600" b="1" dirty="0"/>
              <a:t>Survey Stack </a:t>
            </a:r>
            <a:r>
              <a:rPr lang="fr-FR" sz="2600" b="1" dirty="0" err="1"/>
              <a:t>Overflow</a:t>
            </a:r>
            <a:r>
              <a:rPr lang="fr-FR" sz="2600" b="1" dirty="0"/>
              <a:t> 2024 (65k répondants)</a:t>
            </a:r>
            <a:r>
              <a:rPr lang="fr-FR" sz="2600" dirty="0"/>
              <a:t>, </a:t>
            </a:r>
            <a:r>
              <a:rPr lang="fr-FR" sz="2600" b="1" dirty="0"/>
              <a:t>API d’offres d’emploi</a:t>
            </a:r>
            <a:r>
              <a:rPr lang="fr-FR" sz="2600" dirty="0"/>
              <a:t>, </a:t>
            </a:r>
            <a:r>
              <a:rPr lang="fr-FR" sz="2600" b="1" dirty="0"/>
              <a:t>Web </a:t>
            </a:r>
            <a:r>
              <a:rPr lang="fr-FR" sz="2600" b="1" dirty="0" err="1"/>
              <a:t>scraping</a:t>
            </a:r>
            <a:r>
              <a:rPr lang="fr-FR" sz="2600" b="1" dirty="0"/>
              <a:t> salarial</a:t>
            </a:r>
            <a:r>
              <a:rPr lang="fr-FR" sz="2600" dirty="0"/>
              <a:t>.</a:t>
            </a:r>
          </a:p>
          <a:p>
            <a:pPr algn="just">
              <a:spcBef>
                <a:spcPts val="1800"/>
              </a:spcBef>
            </a:pPr>
            <a:r>
              <a:rPr lang="fr-FR" sz="2600" dirty="0"/>
              <a:t>Langages les plus utilisés : </a:t>
            </a:r>
            <a:r>
              <a:rPr lang="fr-FR" sz="2600" b="1" dirty="0"/>
              <a:t>JavaScript, Python, SQL</a:t>
            </a:r>
            <a:r>
              <a:rPr lang="fr-FR" sz="2600" dirty="0"/>
              <a:t> ; montée notable de </a:t>
            </a:r>
            <a:r>
              <a:rPr lang="fr-FR" sz="2600" b="1" dirty="0" err="1"/>
              <a:t>TypeScript</a:t>
            </a:r>
            <a:r>
              <a:rPr lang="fr-FR" sz="2600" dirty="0"/>
              <a:t>, </a:t>
            </a:r>
            <a:r>
              <a:rPr lang="fr-FR" sz="2600" b="1" dirty="0"/>
              <a:t>Rust</a:t>
            </a:r>
            <a:r>
              <a:rPr lang="fr-FR" sz="2600" dirty="0"/>
              <a:t> et </a:t>
            </a:r>
            <a:r>
              <a:rPr lang="fr-FR" sz="2600" b="1" dirty="0"/>
              <a:t>Go</a:t>
            </a:r>
            <a:r>
              <a:rPr lang="fr-FR" sz="2600" dirty="0"/>
              <a:t>.</a:t>
            </a:r>
          </a:p>
          <a:p>
            <a:pPr algn="just">
              <a:spcBef>
                <a:spcPts val="1800"/>
              </a:spcBef>
            </a:pPr>
            <a:r>
              <a:rPr lang="fr-FR" sz="2600" dirty="0"/>
              <a:t>Dominance de JavaScript dans la majorité des industries ; </a:t>
            </a:r>
            <a:r>
              <a:rPr lang="fr-FR" sz="2600" b="1" dirty="0"/>
              <a:t>Python</a:t>
            </a:r>
            <a:r>
              <a:rPr lang="fr-FR" sz="2600" dirty="0"/>
              <a:t> s’impose dans les secteurs data et recherche.</a:t>
            </a:r>
          </a:p>
          <a:p>
            <a:pPr algn="just">
              <a:spcBef>
                <a:spcPts val="1800"/>
              </a:spcBef>
            </a:pPr>
            <a:r>
              <a:rPr lang="fr-FR" sz="2600" dirty="0"/>
              <a:t>Les langages les mieux rémunérés sont rares et spécialisés : </a:t>
            </a:r>
            <a:r>
              <a:rPr lang="fr-FR" sz="2600" b="1" dirty="0" err="1"/>
              <a:t>Clojure</a:t>
            </a:r>
            <a:r>
              <a:rPr lang="fr-FR" sz="2600" b="1" dirty="0"/>
              <a:t>, Erlang, Elixir, Scala, Rust</a:t>
            </a:r>
            <a:r>
              <a:rPr lang="fr-FR" sz="2600" dirty="0"/>
              <a:t>.</a:t>
            </a:r>
          </a:p>
          <a:p>
            <a:pPr algn="just">
              <a:spcBef>
                <a:spcPts val="1800"/>
              </a:spcBef>
            </a:pPr>
            <a:r>
              <a:rPr lang="fr-FR" sz="2600" dirty="0"/>
              <a:t>Profil majoritaire : développeurs en </a:t>
            </a:r>
            <a:r>
              <a:rPr lang="fr-FR" sz="2600" b="1" dirty="0" err="1"/>
              <a:t>Remote</a:t>
            </a:r>
            <a:r>
              <a:rPr lang="fr-FR" sz="2600" b="1" dirty="0"/>
              <a:t>/</a:t>
            </a:r>
            <a:r>
              <a:rPr lang="fr-FR" sz="2600" b="1" dirty="0" err="1"/>
              <a:t>Hybrid</a:t>
            </a:r>
            <a:r>
              <a:rPr lang="fr-FR" sz="2600" dirty="0"/>
              <a:t>, satisfaction stable autour de </a:t>
            </a:r>
            <a:r>
              <a:rPr lang="fr-FR" sz="2600" b="1" dirty="0"/>
              <a:t>7/10</a:t>
            </a:r>
            <a:r>
              <a:rPr lang="fr-FR" sz="2600" dirty="0"/>
              <a:t>.</a:t>
            </a:r>
          </a:p>
          <a:p>
            <a:pPr algn="just">
              <a:spcBef>
                <a:spcPts val="1800"/>
              </a:spcBef>
            </a:pPr>
            <a:r>
              <a:rPr lang="fr-FR" sz="2600" dirty="0"/>
              <a:t>Le stack technologique mondial montre une forte convergence : web + data + performance.</a:t>
            </a:r>
          </a:p>
          <a:p>
            <a:pPr algn="just"/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DCDC6F-BAF4-46BF-3242-C835ADCC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23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7A897B-016B-9E48-92B5-2EFFEB07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FR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5EB8C-5F32-986D-84F3-3EAC574FC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719" y="1253331"/>
            <a:ext cx="10515600" cy="4351338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1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Objectifs du projet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Pipeline Analytique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Profil des Développeurs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Langages utilisés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Langages souhaités &amp; admirés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Salaires par langage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Bases de données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Plateformes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 err="1"/>
              <a:t>Frameworks</a:t>
            </a:r>
            <a:r>
              <a:rPr lang="fr-FR" sz="1600" noProof="0" dirty="0"/>
              <a:t> Web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Technologies Embedded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Systèmes d’Exploitation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Outils collaboratifs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Usages de l’IA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Synthèse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Recommandations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noProof="0" dirty="0"/>
              <a:t>Conclusion</a:t>
            </a:r>
          </a:p>
        </p:txBody>
      </p:sp>
      <p:pic>
        <p:nvPicPr>
          <p:cNvPr id="1026" name="Picture 2" descr="Vecteurs et illustrations de Icone sommaire en téléchargement gratuit ...">
            <a:extLst>
              <a:ext uri="{FF2B5EF4-FFF2-40B4-BE49-F238E27FC236}">
                <a16:creationId xmlns:a16="http://schemas.microsoft.com/office/drawing/2014/main" id="{0D9FA476-5359-174D-D83A-B33400D73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519" y="1343818"/>
            <a:ext cx="3451404" cy="345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787171-0143-2F40-02F0-907995F5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8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9153D6-16CF-121E-CD67-F998D3B76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fr-FR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Objectifs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B03285-BEDD-7DBD-18C4-AD2B274F4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fr-FR" sz="2400" noProof="0" dirty="0"/>
              <a:t>Construire une analyse intégrée du paysage technologique 2024 en combinant trois sources complémentaires :</a:t>
            </a:r>
          </a:p>
          <a:p>
            <a:pPr lvl="1"/>
            <a:r>
              <a:rPr lang="fr-FR" sz="2000" noProof="0" dirty="0"/>
              <a:t>Survey Stack </a:t>
            </a:r>
            <a:r>
              <a:rPr lang="fr-FR" sz="2000" noProof="0" dirty="0" err="1"/>
              <a:t>Overflow</a:t>
            </a:r>
            <a:r>
              <a:rPr lang="fr-FR" sz="2000" noProof="0" dirty="0"/>
              <a:t> (65k répondants) : compétences utilisées, profils, satisfaction, rémunérations.</a:t>
            </a:r>
          </a:p>
          <a:p>
            <a:pPr lvl="1"/>
            <a:r>
              <a:rPr lang="fr-FR" sz="2000" noProof="0" dirty="0"/>
              <a:t>API d’offres d’emploi : validation des compétences réellement demandées sur le marché.</a:t>
            </a:r>
          </a:p>
          <a:p>
            <a:pPr lvl="1"/>
            <a:r>
              <a:rPr lang="fr-FR" sz="2000" noProof="0" dirty="0"/>
              <a:t>Web </a:t>
            </a:r>
            <a:r>
              <a:rPr lang="fr-FR" sz="2000" noProof="0" dirty="0" err="1"/>
              <a:t>scraping</a:t>
            </a:r>
            <a:r>
              <a:rPr lang="fr-FR" sz="2000" noProof="0" dirty="0"/>
              <a:t> salarial : estimation des salaires moyens par langage.</a:t>
            </a:r>
          </a:p>
          <a:p>
            <a:pPr lvl="1"/>
            <a:endParaRPr lang="fr-FR" sz="2000" noProof="0" dirty="0"/>
          </a:p>
          <a:p>
            <a:pPr>
              <a:spcBef>
                <a:spcPts val="1800"/>
              </a:spcBef>
            </a:pPr>
            <a:r>
              <a:rPr lang="fr-FR" sz="2400" noProof="0" dirty="0"/>
              <a:t>L’objectif final est de fournir une </a:t>
            </a:r>
            <a:r>
              <a:rPr lang="fr-FR" sz="2400" b="1" noProof="0" dirty="0"/>
              <a:t>vision claire, exploitable et orientée décision</a:t>
            </a:r>
            <a:r>
              <a:rPr lang="fr-FR" sz="2400" noProof="0" dirty="0"/>
              <a:t> des tendances technologiques, des usages réels et des attentes du marché afin d’identifier les compétences dominantes, émergentes et les opportunités stratégiques.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FB6C4D-9682-1AEF-BDD2-C5390830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8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98F15-AFA7-F78B-DFBE-AA4B4B6A4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46" y="51307"/>
            <a:ext cx="10515600" cy="1325563"/>
          </a:xfrm>
        </p:spPr>
        <p:txBody>
          <a:bodyPr/>
          <a:lstStyle/>
          <a:p>
            <a:pPr marL="742950" indent="-742950">
              <a:buFont typeface="+mj-lt"/>
              <a:buAutoNum type="arabicPeriod" startAt="2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Pipeline Analytique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4A5D991-7652-E8AA-440F-FB9418B1F7A4}"/>
              </a:ext>
            </a:extLst>
          </p:cNvPr>
          <p:cNvGrpSpPr/>
          <p:nvPr/>
        </p:nvGrpSpPr>
        <p:grpSpPr>
          <a:xfrm>
            <a:off x="1524296" y="2081483"/>
            <a:ext cx="1089848" cy="4255943"/>
            <a:chOff x="978181" y="2110054"/>
            <a:chExt cx="1205827" cy="4361388"/>
          </a:xfrm>
        </p:grpSpPr>
        <p:pic>
          <p:nvPicPr>
            <p:cNvPr id="2050" name="Picture 2" descr="Csv, extension, format, document, csv file, comma separated values ...">
              <a:extLst>
                <a:ext uri="{FF2B5EF4-FFF2-40B4-BE49-F238E27FC236}">
                  <a16:creationId xmlns:a16="http://schemas.microsoft.com/office/drawing/2014/main" id="{5B45C100-BE12-F93A-FF6B-97B64B49F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885" y="3657430"/>
              <a:ext cx="1185862" cy="11858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Enquête - Icônes divers gratuites">
              <a:extLst>
                <a:ext uri="{FF2B5EF4-FFF2-40B4-BE49-F238E27FC236}">
                  <a16:creationId xmlns:a16="http://schemas.microsoft.com/office/drawing/2014/main" id="{5E435BD4-ABB9-05A9-E494-70DC975AE3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6332" y="3509854"/>
              <a:ext cx="447676" cy="447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ícone do vetor API 15799720 Vetor no Vecteezy">
              <a:extLst>
                <a:ext uri="{FF2B5EF4-FFF2-40B4-BE49-F238E27FC236}">
                  <a16:creationId xmlns:a16="http://schemas.microsoft.com/office/drawing/2014/main" id="{CA3B41A0-3531-E943-B013-418A5F5E4E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181" y="2110054"/>
              <a:ext cx="1102093" cy="1093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mix icon for convert 20306932 Vector Art at Vecteezy">
              <a:extLst>
                <a:ext uri="{FF2B5EF4-FFF2-40B4-BE49-F238E27FC236}">
                  <a16:creationId xmlns:a16="http://schemas.microsoft.com/office/drawing/2014/main" id="{350150C7-933D-1CE8-3907-5A892D26A3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502" y="5428455"/>
              <a:ext cx="1068579" cy="1042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0" name="Picture 12" descr="Strandschicht – Virtuelle Assistenz für Ihr Business | Remote &amp; Flexibel">
            <a:extLst>
              <a:ext uri="{FF2B5EF4-FFF2-40B4-BE49-F238E27FC236}">
                <a16:creationId xmlns:a16="http://schemas.microsoft.com/office/drawing/2014/main" id="{68EB3F80-4BC5-77EF-865D-2273826D4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364" y="2886764"/>
            <a:ext cx="20097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nalyse-Icon-Chart-Forschungsdaten | Premium Vektor">
            <a:extLst>
              <a:ext uri="{FF2B5EF4-FFF2-40B4-BE49-F238E27FC236}">
                <a16:creationId xmlns:a16="http://schemas.microsoft.com/office/drawing/2014/main" id="{B5005E0A-5CE8-07E4-8FAD-C30911E25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564" y="2886763"/>
            <a:ext cx="20097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63FD153-6912-6D70-A415-81AE42E5CC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5476" y="3075060"/>
            <a:ext cx="1436000" cy="1681981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9400FAF-9006-55D2-F6D6-EBCC6CF56DAE}"/>
              </a:ext>
            </a:extLst>
          </p:cNvPr>
          <p:cNvCxnSpPr>
            <a:cxnSpLocks/>
          </p:cNvCxnSpPr>
          <p:nvPr/>
        </p:nvCxnSpPr>
        <p:spPr>
          <a:xfrm>
            <a:off x="2957513" y="2528892"/>
            <a:ext cx="0" cy="347038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FDA4E58-632E-6B32-A288-1FA39815DA68}"/>
              </a:ext>
            </a:extLst>
          </p:cNvPr>
          <p:cNvCxnSpPr/>
          <p:nvPr/>
        </p:nvCxnSpPr>
        <p:spPr>
          <a:xfrm flipH="1">
            <a:off x="2477514" y="2528892"/>
            <a:ext cx="47999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239D6B6-15DD-4D9A-80B5-D516722E028D}"/>
              </a:ext>
            </a:extLst>
          </p:cNvPr>
          <p:cNvCxnSpPr/>
          <p:nvPr/>
        </p:nvCxnSpPr>
        <p:spPr>
          <a:xfrm flipH="1">
            <a:off x="2477514" y="5999280"/>
            <a:ext cx="47999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DB29E716-F840-55EB-89C0-8657B310A382}"/>
              </a:ext>
            </a:extLst>
          </p:cNvPr>
          <p:cNvCxnSpPr>
            <a:cxnSpLocks/>
          </p:cNvCxnSpPr>
          <p:nvPr/>
        </p:nvCxnSpPr>
        <p:spPr>
          <a:xfrm>
            <a:off x="2477514" y="3967955"/>
            <a:ext cx="159740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E6DCFA0-2BE0-98D1-BB37-C1C04FC82E47}"/>
              </a:ext>
            </a:extLst>
          </p:cNvPr>
          <p:cNvCxnSpPr>
            <a:stCxn id="2060" idx="3"/>
            <a:endCxn id="2062" idx="1"/>
          </p:cNvCxnSpPr>
          <p:nvPr/>
        </p:nvCxnSpPr>
        <p:spPr>
          <a:xfrm flipV="1">
            <a:off x="6148139" y="3891651"/>
            <a:ext cx="83042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51524E4-CFB2-AE6D-D9D2-EEEBF0B0800F}"/>
              </a:ext>
            </a:extLst>
          </p:cNvPr>
          <p:cNvCxnSpPr>
            <a:cxnSpLocks/>
            <a:stCxn id="2062" idx="3"/>
            <a:endCxn id="8" idx="1"/>
          </p:cNvCxnSpPr>
          <p:nvPr/>
        </p:nvCxnSpPr>
        <p:spPr>
          <a:xfrm>
            <a:off x="8988339" y="3891651"/>
            <a:ext cx="1377137" cy="24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8B341097-A09C-3A48-D556-1DA0A2540D1F}"/>
              </a:ext>
            </a:extLst>
          </p:cNvPr>
          <p:cNvSpPr txBox="1"/>
          <p:nvPr/>
        </p:nvSpPr>
        <p:spPr>
          <a:xfrm>
            <a:off x="216927" y="2142419"/>
            <a:ext cx="1377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Données d’emploi (API)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D00EB89-A77B-55DB-922B-A825AF3AA014}"/>
              </a:ext>
            </a:extLst>
          </p:cNvPr>
          <p:cNvSpPr txBox="1"/>
          <p:nvPr/>
        </p:nvSpPr>
        <p:spPr>
          <a:xfrm>
            <a:off x="229141" y="3508993"/>
            <a:ext cx="1511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Enquête développeurs 2024 (Stack </a:t>
            </a:r>
            <a:r>
              <a:rPr lang="fr-FR" noProof="0" dirty="0" err="1"/>
              <a:t>Overflow</a:t>
            </a:r>
            <a:r>
              <a:rPr lang="fr-FR" noProof="0" dirty="0"/>
              <a:t>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D0D4BA9-27EB-609A-5C4D-5EA27D811C71}"/>
              </a:ext>
            </a:extLst>
          </p:cNvPr>
          <p:cNvSpPr txBox="1"/>
          <p:nvPr/>
        </p:nvSpPr>
        <p:spPr>
          <a:xfrm>
            <a:off x="622483" y="1527031"/>
            <a:ext cx="212883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noProof="0" dirty="0"/>
              <a:t>Sources de données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06F357C-E6EE-F055-8A65-1B3E5DA801B5}"/>
              </a:ext>
            </a:extLst>
          </p:cNvPr>
          <p:cNvSpPr txBox="1"/>
          <p:nvPr/>
        </p:nvSpPr>
        <p:spPr>
          <a:xfrm>
            <a:off x="324498" y="5228375"/>
            <a:ext cx="15117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/>
              <a:t>Données salariales (web </a:t>
            </a:r>
            <a:r>
              <a:rPr lang="fr-FR" noProof="0" dirty="0" err="1"/>
              <a:t>scraping</a:t>
            </a:r>
            <a:r>
              <a:rPr lang="fr-FR" noProof="0" dirty="0"/>
              <a:t>)</a:t>
            </a:r>
          </a:p>
        </p:txBody>
      </p:sp>
      <p:sp>
        <p:nvSpPr>
          <p:cNvPr id="2048" name="Rectangle 17">
            <a:extLst>
              <a:ext uri="{FF2B5EF4-FFF2-40B4-BE49-F238E27FC236}">
                <a16:creationId xmlns:a16="http://schemas.microsoft.com/office/drawing/2014/main" id="{FDC9C68D-7FC6-50A7-1992-836C2ABDF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229" y="4872759"/>
            <a:ext cx="3061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Nettoyage &amp; filtrage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Déduplication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Traitement des valeurs manquantes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Détection des anomalies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Normalisation des colonnes</a:t>
            </a:r>
          </a:p>
        </p:txBody>
      </p:sp>
      <p:sp>
        <p:nvSpPr>
          <p:cNvPr id="2053" name="ZoneTexte 2052">
            <a:extLst>
              <a:ext uri="{FF2B5EF4-FFF2-40B4-BE49-F238E27FC236}">
                <a16:creationId xmlns:a16="http://schemas.microsoft.com/office/drawing/2014/main" id="{B98C415F-87B0-CA32-B8B6-426783410735}"/>
              </a:ext>
            </a:extLst>
          </p:cNvPr>
          <p:cNvSpPr txBox="1"/>
          <p:nvPr/>
        </p:nvSpPr>
        <p:spPr>
          <a:xfrm>
            <a:off x="3566345" y="1524333"/>
            <a:ext cx="268247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noProof="0" dirty="0"/>
              <a:t>Préparation des données</a:t>
            </a:r>
          </a:p>
        </p:txBody>
      </p:sp>
      <p:sp>
        <p:nvSpPr>
          <p:cNvPr id="2057" name="ZoneTexte 2056">
            <a:extLst>
              <a:ext uri="{FF2B5EF4-FFF2-40B4-BE49-F238E27FC236}">
                <a16:creationId xmlns:a16="http://schemas.microsoft.com/office/drawing/2014/main" id="{35040762-3311-E611-CC92-2AEB3D391BA0}"/>
              </a:ext>
            </a:extLst>
          </p:cNvPr>
          <p:cNvSpPr txBox="1"/>
          <p:nvPr/>
        </p:nvSpPr>
        <p:spPr>
          <a:xfrm>
            <a:off x="6804360" y="1536324"/>
            <a:ext cx="238034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noProof="0" dirty="0"/>
              <a:t>Analyse exploratoire</a:t>
            </a:r>
          </a:p>
        </p:txBody>
      </p:sp>
      <p:sp>
        <p:nvSpPr>
          <p:cNvPr id="2058" name="Rectangle 19">
            <a:extLst>
              <a:ext uri="{FF2B5EF4-FFF2-40B4-BE49-F238E27FC236}">
                <a16:creationId xmlns:a16="http://schemas.microsoft.com/office/drawing/2014/main" id="{D8313C0B-EB4C-978C-1475-45CBF1C73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722" y="4896538"/>
            <a:ext cx="2689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Profil des développeurs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Tendances des langages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Analyse plateformes / </a:t>
            </a:r>
            <a:r>
              <a:rPr lang="fr-FR" noProof="0" dirty="0" err="1"/>
              <a:t>frameworks</a:t>
            </a:r>
            <a:r>
              <a:rPr lang="fr-FR" noProof="0" dirty="0"/>
              <a:t> / technologies</a:t>
            </a:r>
          </a:p>
        </p:txBody>
      </p:sp>
      <p:sp>
        <p:nvSpPr>
          <p:cNvPr id="2061" name="ZoneTexte 2060">
            <a:extLst>
              <a:ext uri="{FF2B5EF4-FFF2-40B4-BE49-F238E27FC236}">
                <a16:creationId xmlns:a16="http://schemas.microsoft.com/office/drawing/2014/main" id="{07AFC593-D45C-8389-18FA-1675DA4FF49E}"/>
              </a:ext>
            </a:extLst>
          </p:cNvPr>
          <p:cNvSpPr txBox="1"/>
          <p:nvPr/>
        </p:nvSpPr>
        <p:spPr>
          <a:xfrm>
            <a:off x="9588115" y="1536324"/>
            <a:ext cx="23803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noProof="0" dirty="0"/>
              <a:t>Rapport &amp; Storytelling</a:t>
            </a:r>
          </a:p>
        </p:txBody>
      </p:sp>
      <p:sp>
        <p:nvSpPr>
          <p:cNvPr id="2063" name="Rectangle 20">
            <a:extLst>
              <a:ext uri="{FF2B5EF4-FFF2-40B4-BE49-F238E27FC236}">
                <a16:creationId xmlns:a16="http://schemas.microsoft.com/office/drawing/2014/main" id="{E782F1F6-DCC1-69D1-8D2D-664D6816A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3481" y="4812876"/>
            <a:ext cx="2419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Synthèse des résultats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Visualisations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Rapport PowerPoint &amp;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noProof="0" dirty="0"/>
              <a:t>Conclusions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D4AF8CD-EE78-1087-ED62-B46E03F9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6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8403AE-7A79-0033-12D6-6C54E917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fr-FR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Profil des Développeurs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B80B4B3-3BB5-9E94-AB4B-72D03402A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17" y="1101465"/>
            <a:ext cx="9122683" cy="5398019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FAF3602-A953-D175-71C3-926DB2F7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6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75F88100-1AF0-789D-EFC6-93B6A1EFE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0" y="1259956"/>
            <a:ext cx="11015494" cy="5398019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F2D0F61-C37C-02C5-72ED-8E69908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Profil des Développeurs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ED7DBA0-6F94-F514-9607-F55D7119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1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5C07C-8318-D27B-26DF-EE207988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Profil des Développeurs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307EEBF-C4B2-426E-30C3-F0BE8552B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04" y="894788"/>
            <a:ext cx="10403971" cy="596321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DAE6930-FCCF-96C9-BE1A-1FA68EF8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0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CEDD8D-7D10-7BCE-7704-27860E71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454150"/>
            <a:ext cx="10515600" cy="4351338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fr-FR" sz="2400" noProof="0" dirty="0"/>
              <a:t>La majorité des répondants ont entre 25 et 34 ans.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Les développeurs proviennent principalement des États-Unis, d’Allemagne et d’Inde.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Niveau d’éducation élevé : les diplômes </a:t>
            </a:r>
            <a:r>
              <a:rPr lang="fr-FR" sz="2400" noProof="0" dirty="0" err="1"/>
              <a:t>Bachelor</a:t>
            </a:r>
            <a:r>
              <a:rPr lang="fr-FR" sz="2400" noProof="0" dirty="0"/>
              <a:t> et Master sont les plus représentés.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Environnement de travail moderne : le </a:t>
            </a:r>
            <a:r>
              <a:rPr lang="fr-FR" sz="2400" noProof="0" dirty="0" err="1"/>
              <a:t>remote</a:t>
            </a:r>
            <a:r>
              <a:rPr lang="fr-FR" sz="2400" noProof="0" dirty="0"/>
              <a:t> et l’hybride sont les formats dominants.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Satisfaction professionnelle : médiane autour de 7/10, reflet d’un niveau globalement positif.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4607E06-6807-ADD1-A9AA-7287B8FAB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Profil des Développeurs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55B4739-E512-AF4C-BC59-EC5E9D06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7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CDD75D-7B05-E7EB-3AF4-A4161CBE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utilisés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86C9EB-9932-F46B-B8EF-BF029CA68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56" y="1343818"/>
            <a:ext cx="9000762" cy="5343155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1A216C0-6064-14D0-BDC3-3A0C44CA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2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BC292CD-D317-2216-FEC6-B982005DF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83" y="1000124"/>
            <a:ext cx="9691967" cy="5857875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A150FDEB-7D47-001D-FDB1-D6C85EA2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utilisés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83B6B70-C85B-DDAF-A027-FCE7ECDA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20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27021DB-647D-D201-5694-FD7058C95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0966"/>
            <a:ext cx="12192000" cy="5147668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B3D82F77-1508-544C-4FB2-27E27B28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utilisés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CB1E25-EF90-0D77-2732-61DD1CE6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CBA9A60-37AD-C612-46D9-D50EB1EAC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17" y="1325874"/>
            <a:ext cx="10829566" cy="5349251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269297A-5282-E4DA-03D0-FEB6CF08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utilisés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A26370C-FF63-94EC-7EA1-572D56FD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8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69B12A50-8072-9F1F-2B83-0A8C2B5C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utilisés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8A209A3-518B-5E07-5D21-13F7B3F3E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4" y="1117253"/>
            <a:ext cx="11534775" cy="572249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012FF2-5416-185D-BCCD-C14324FB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0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4CCADB-C7A5-B908-4034-1DC4C6C0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fr-FR" sz="2400" noProof="0" dirty="0"/>
              <a:t>JavaScript, Python, SQL, HTML/CSS dominent les usages.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Reflète un socle structuré autour du web et de la data.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Forte transversalité de JavaScript dans toutes les industries.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Python très présent dans la data, l’IA, l’enseignement.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A2A31D9-26ED-27EF-7479-32974B57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utilisés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FB5624E-B71B-5D8B-4219-E19DF05A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60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ECFD7626-D4AA-1BA6-6CA5-06440416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5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souhaités &amp; admirés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DDC2B67-B141-C8C6-2D91-5EDD24DD6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44" y="1343818"/>
            <a:ext cx="9000762" cy="534315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95A273E-B2A1-C23F-95B6-A04E311E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34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64C4-7A32-5218-1718-E2DA1A788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76B1ACA6-17E4-CAFC-3363-9B59468F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5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souhaités &amp; admirés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AD82535-B629-F8C3-6B17-272834EE7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44" y="1493542"/>
            <a:ext cx="9000762" cy="5346203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1B564E1-51BF-EE34-0C6B-FA2FBAC7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30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94668F-3B98-4F45-C009-D2FF50477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fr-FR" sz="2400" noProof="0" dirty="0"/>
              <a:t>Les développeurs veulent migrer vers des langages modernes comme Python, </a:t>
            </a:r>
            <a:r>
              <a:rPr lang="fr-FR" sz="2400" noProof="0" dirty="0" err="1"/>
              <a:t>TypeScript</a:t>
            </a:r>
            <a:r>
              <a:rPr lang="fr-FR" sz="2400" noProof="0" dirty="0"/>
              <a:t>, Go, Rust, SQL.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Admiration forte pour les langages polyvalents, robustes ou performants.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Rust attire pour sa sécurité et ses performances.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B3B1368-9D7F-32EA-374A-906B4183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5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Langages souhaités &amp; admirés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897D8C6-FCD1-F086-7F23-C4012C06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28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A3E7B6-5827-CE5C-13B2-3DF9A306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6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Salaires par langage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A08D25-49DE-B5AC-C326-B410F831C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05" y="1235577"/>
            <a:ext cx="10792990" cy="5358395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A4FC330-5C23-50F9-C05C-DDDE9461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07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BFB0F8-2EC9-17FE-2522-45031DEEC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fr-FR" sz="2400" noProof="0" dirty="0"/>
              <a:t>Les langages les mieux rémunérés ne sont pas les plus utilisés.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 err="1"/>
              <a:t>Clojure</a:t>
            </a:r>
            <a:r>
              <a:rPr lang="fr-FR" sz="2400" noProof="0" dirty="0"/>
              <a:t>, Erlang et Elixir affichent des salaires élevés, souvent liés à des environnements distribués ou à des systèmes backend critiques.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Scala, F# et Ruby offrent aussi des rémunérations importantes, notamment dans la finance, le data engineering et les systèmes complexes.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La dynamique globale du marché repose sur un principe simple : rareté et complexité technique entraînent une hausse des salaires.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02866B1-F8C4-BA61-FA1D-F93D2F9F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6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Salaires par langage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D14B50-525D-73EE-2F64-5929ACC7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5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F8E0-0C0D-F79C-723C-FDA8A10A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69BF58DA-F29F-762A-DF65-2D46506A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7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Bases de données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65A7DE7-65F3-DF90-3506-635E198F2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56" y="1613437"/>
            <a:ext cx="4813370" cy="445284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7C6D350-157B-E1AC-C4BB-CD4FA1AD1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226" y="1613436"/>
            <a:ext cx="4755523" cy="445284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CAB4F25-B224-48C9-C813-F5C573BD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32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06B7-30BC-5971-F862-C2B87A80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D181F290-E3BE-9A25-1505-B4603FF1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7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Bases de données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E97C3D85-318B-46DB-0FFF-6E72163F5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fr-FR" b="1" noProof="0" dirty="0"/>
              <a:t>Utilisation :</a:t>
            </a:r>
            <a:endParaRPr lang="fr-FR" noProof="0" dirty="0"/>
          </a:p>
          <a:p>
            <a:pPr marL="0" indent="0">
              <a:buNone/>
            </a:pPr>
            <a:r>
              <a:rPr lang="fr-FR" noProof="0" dirty="0"/>
              <a:t>	PostgreSQL, MySQL, SQLite dominent : open-source, robustes,  	gratuits.</a:t>
            </a:r>
          </a:p>
          <a:p>
            <a:pPr marL="0" indent="0">
              <a:buNone/>
            </a:pPr>
            <a:endParaRPr lang="fr-FR" noProof="0" dirty="0"/>
          </a:p>
          <a:p>
            <a:r>
              <a:rPr lang="fr-FR" b="1" noProof="0" dirty="0"/>
              <a:t>Préférences futures :</a:t>
            </a:r>
            <a:endParaRPr lang="fr-FR" noProof="0" dirty="0"/>
          </a:p>
          <a:p>
            <a:pPr marL="0" indent="0">
              <a:buNone/>
            </a:pPr>
            <a:r>
              <a:rPr lang="fr-FR" noProof="0" dirty="0"/>
              <a:t>	PostgreSQL largement désiré.</a:t>
            </a:r>
          </a:p>
          <a:p>
            <a:pPr marL="0" indent="0">
              <a:buNone/>
            </a:pPr>
            <a:r>
              <a:rPr lang="fr-FR" noProof="0" dirty="0"/>
              <a:t>	Montée nette de </a:t>
            </a:r>
            <a:r>
              <a:rPr lang="fr-FR" b="1" noProof="0" dirty="0"/>
              <a:t>MongoDB</a:t>
            </a:r>
            <a:r>
              <a:rPr lang="fr-FR" noProof="0" dirty="0"/>
              <a:t> et </a:t>
            </a:r>
            <a:r>
              <a:rPr lang="fr-FR" b="1" noProof="0" dirty="0"/>
              <a:t>Redis</a:t>
            </a:r>
            <a:r>
              <a:rPr lang="fr-FR" noProof="0" dirty="0"/>
              <a:t> : flexibilité et performance.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DC832B4-D047-2A5A-705C-0E83E668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1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3725D8-7E01-37B5-2676-0A9D6C70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8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Plateformes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33F4075-B8C8-5F77-8961-D395B71D4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0" y="1471613"/>
            <a:ext cx="5844549" cy="432911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46B79B6-3140-0683-55CC-DB80F94AF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822" y="1398588"/>
            <a:ext cx="6145178" cy="447516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218012E-2B14-985B-17D3-B474ADD3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16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B9A5-548B-87AA-500F-7932D025D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F3100-31FB-E449-E3B9-5B47002E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8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Plateformes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9D07C7-01C1-F443-9DF4-9A979DDD8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fr-FR" sz="2400" noProof="0" dirty="0"/>
              <a:t>AWS domine l’usage et les préférences.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Azure &amp; GCP conservent des positions solides.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 err="1"/>
              <a:t>Cloudflare</a:t>
            </a:r>
            <a:r>
              <a:rPr lang="fr-FR" sz="2400" noProof="0" dirty="0"/>
              <a:t> / </a:t>
            </a:r>
            <a:r>
              <a:rPr lang="fr-FR" sz="2400" noProof="0" dirty="0" err="1"/>
              <a:t>Firebase</a:t>
            </a:r>
            <a:r>
              <a:rPr lang="fr-FR" sz="2400" noProof="0" dirty="0"/>
              <a:t> attirent des usages spécialisés web &amp; mobile.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Le cloud reste centré sur un triptyque : AWS – Azure – GCP.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9D22E6-BFD5-3B3E-9A30-2AE7B285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31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0290D0-C6AF-B504-08E6-924B52AE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9"/>
            </a:pPr>
            <a:r>
              <a:rPr lang="fr-FR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Frameworks</a:t>
            </a: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Web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318EC3-4503-851D-98FD-F38C98DD8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3818"/>
            <a:ext cx="5791200" cy="42997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F29348-69CC-569B-D0F2-838AB3AE3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43818"/>
            <a:ext cx="5994028" cy="4587018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ACB1C44-C2BB-CE2D-7BB9-DD2E1C8E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16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ACD7-0401-77BF-934F-DF80AE40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A597A-F3BD-8B39-09EC-294B60C97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9"/>
            </a:pPr>
            <a:r>
              <a:rPr lang="fr-FR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Frameworks</a:t>
            </a: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C22457-FD7E-351E-5BF9-AB657ABE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fr-FR" sz="2400" noProof="0" dirty="0"/>
              <a:t>Usage actuel : Node.js, </a:t>
            </a:r>
            <a:r>
              <a:rPr lang="fr-FR" sz="2400" noProof="0" dirty="0" err="1"/>
              <a:t>React</a:t>
            </a:r>
            <a:r>
              <a:rPr lang="fr-FR" sz="2400" noProof="0" dirty="0"/>
              <a:t>, jQuery, Express.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Souhaits futurs : </a:t>
            </a:r>
            <a:r>
              <a:rPr lang="fr-FR" sz="2400" noProof="0" dirty="0" err="1"/>
              <a:t>React</a:t>
            </a:r>
            <a:r>
              <a:rPr lang="fr-FR" sz="2400" noProof="0" dirty="0"/>
              <a:t> n°1, suivi de Node.js, puis Next.js.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Tendances :déclin du </a:t>
            </a:r>
            <a:r>
              <a:rPr lang="fr-FR" sz="2400" noProof="0" dirty="0" err="1"/>
              <a:t>legacy</a:t>
            </a:r>
            <a:r>
              <a:rPr lang="fr-FR" sz="2400" noProof="0" dirty="0"/>
              <a:t> (jQuery),progression de l’écosystème </a:t>
            </a:r>
            <a:r>
              <a:rPr lang="fr-FR" sz="2400" noProof="0" dirty="0" err="1"/>
              <a:t>React</a:t>
            </a:r>
            <a:r>
              <a:rPr lang="fr-FR" sz="2400" noProof="0" dirty="0"/>
              <a:t> / Next.js.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CCEDAE-4E5A-0AC4-ACB0-3A8F16C1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05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52A14FE-CAD9-2FA8-1FEA-18AB6380A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02" y="1428750"/>
            <a:ext cx="4820996" cy="440188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499D433-8985-A560-215A-A5E4768D2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103" y="1428750"/>
            <a:ext cx="4805938" cy="4401888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88248C4F-A6FD-A486-2665-077BE25B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10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Technologies Embedded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71BAD7C-BA38-1B17-9FDD-BAA69DCE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46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C017-9480-12DC-4721-6EEB9F54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04EBD4-D02E-66A5-66D0-02C19A03B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10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Technologies Embedded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49D910-B522-3C7D-6896-E3D97716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</a:pPr>
            <a:r>
              <a:rPr lang="fr-FR" sz="2400" noProof="0" dirty="0">
                <a:latin typeface="Arial" panose="020B0604020202020204" pitchFamily="34" charset="0"/>
              </a:rPr>
              <a:t>Usage dominé par : Raspberry Pi, Arduino, GCC, </a:t>
            </a:r>
            <a:r>
              <a:rPr lang="fr-FR" sz="2400" noProof="0" dirty="0" err="1">
                <a:latin typeface="Arial" panose="020B0604020202020204" pitchFamily="34" charset="0"/>
              </a:rPr>
              <a:t>CMake</a:t>
            </a:r>
            <a:r>
              <a:rPr lang="fr-FR" sz="2400" noProof="0" dirty="0">
                <a:latin typeface="Arial" panose="020B0604020202020204" pitchFamily="34" charset="0"/>
              </a:rPr>
              <a:t>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</a:pPr>
            <a:r>
              <a:rPr lang="fr-FR" sz="2400" noProof="0" dirty="0">
                <a:latin typeface="Arial" panose="020B0604020202020204" pitchFamily="34" charset="0"/>
              </a:rPr>
              <a:t>Préférences futures : forte montée d’intérêt pour Rust / Cargo.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</a:pPr>
            <a:r>
              <a:rPr lang="fr-FR" sz="2400" noProof="0" dirty="0">
                <a:latin typeface="Arial" panose="020B0604020202020204" pitchFamily="34" charset="0"/>
              </a:rPr>
              <a:t>Le secteur reste partagé entre prototypage accessible et bas-niveau.</a:t>
            </a:r>
          </a:p>
          <a:p>
            <a:pPr algn="just">
              <a:spcBef>
                <a:spcPts val="1800"/>
              </a:spcBef>
            </a:pPr>
            <a:endParaRPr lang="fr-FR" sz="2400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490561-5183-9D3B-143D-FFE430EC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29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A649-7B49-E9B4-0775-5CB8545C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67047C-8240-D540-7B4F-A15D8ED49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pPr marL="742950" indent="-742950">
              <a:buFont typeface="+mj-lt"/>
              <a:buAutoNum type="arabicPeriod" startAt="11"/>
            </a:pPr>
            <a:r>
              <a:rPr lang="fr-FR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Systèmes d’Exploitation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807867-AC5E-DB39-269B-E3FEBFE60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8238" cy="4351338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</a:pPr>
            <a:r>
              <a:rPr lang="fr-FR" sz="2400" b="1" noProof="0" dirty="0">
                <a:latin typeface="Arial" panose="020B0604020202020204" pitchFamily="34" charset="0"/>
              </a:rPr>
              <a:t>Windows</a:t>
            </a:r>
            <a:r>
              <a:rPr lang="fr-FR" sz="2400" noProof="0" dirty="0">
                <a:latin typeface="Arial" panose="020B0604020202020204" pitchFamily="34" charset="0"/>
              </a:rPr>
              <a:t> reste le plus utilisé professionnellement.</a:t>
            </a:r>
          </a:p>
          <a:p>
            <a:pPr lvl="0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</a:pPr>
            <a:r>
              <a:rPr lang="fr-FR" sz="2400" b="1" noProof="0" dirty="0">
                <a:latin typeface="Arial" panose="020B0604020202020204" pitchFamily="34" charset="0"/>
              </a:rPr>
              <a:t>mac</a:t>
            </a:r>
            <a:r>
              <a:rPr lang="fr-FR" sz="2400" noProof="0" dirty="0">
                <a:latin typeface="Arial" panose="020B0604020202020204" pitchFamily="34" charset="0"/>
              </a:rPr>
              <a:t> très populaire chez les dev web/mobile.</a:t>
            </a:r>
          </a:p>
          <a:p>
            <a:pPr lvl="0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</a:pPr>
            <a:r>
              <a:rPr lang="fr-FR" sz="2400" b="1" noProof="0" dirty="0">
                <a:latin typeface="Arial" panose="020B0604020202020204" pitchFamily="34" charset="0"/>
              </a:rPr>
              <a:t>Ubuntu</a:t>
            </a:r>
            <a:r>
              <a:rPr lang="fr-FR" sz="2400" noProof="0" dirty="0">
                <a:latin typeface="Arial" panose="020B0604020202020204" pitchFamily="34" charset="0"/>
              </a:rPr>
              <a:t> central pour DevOps / serveurs.</a:t>
            </a:r>
          </a:p>
          <a:p>
            <a:pPr lvl="0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</a:pPr>
            <a:r>
              <a:rPr lang="fr-FR" sz="2400" b="1" noProof="0" dirty="0">
                <a:latin typeface="Arial" panose="020B0604020202020204" pitchFamily="34" charset="0"/>
              </a:rPr>
              <a:t>WSL</a:t>
            </a:r>
            <a:r>
              <a:rPr lang="fr-FR" sz="2400" noProof="0" dirty="0">
                <a:latin typeface="Arial" panose="020B0604020202020204" pitchFamily="34" charset="0"/>
              </a:rPr>
              <a:t> reflète l’intégration de Linux dans l’écosystème Windows.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FontTx/>
              <a:buChar char="•"/>
            </a:pPr>
            <a:endParaRPr lang="fr-FR" sz="2400" noProof="0" dirty="0">
              <a:latin typeface="Arial" panose="020B0604020202020204" pitchFamily="34" charset="0"/>
            </a:endParaRPr>
          </a:p>
          <a:p>
            <a:pPr>
              <a:spcBef>
                <a:spcPts val="1800"/>
              </a:spcBef>
            </a:pPr>
            <a:endParaRPr lang="fr-FR" sz="2400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32FCEBF-4A34-91B1-98DD-15AD4913D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962" y="1320255"/>
            <a:ext cx="5362771" cy="502473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23B0D7-541C-E231-E9B3-55211065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43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6D9F2-A152-60D7-0987-E0400F16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12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Outils collaboratifs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44F0CF-67C2-722A-5C74-BCF31D7F5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1525586"/>
            <a:ext cx="4433888" cy="458946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fr-FR" sz="2400" noProof="0" dirty="0"/>
              <a:t>VS Code écrase la concurrence : léger, extensible, universel.</a:t>
            </a:r>
          </a:p>
          <a:p>
            <a:pPr>
              <a:spcBef>
                <a:spcPts val="1800"/>
              </a:spcBef>
            </a:pPr>
            <a:r>
              <a:rPr lang="fr-FR" sz="2400" noProof="0" dirty="0" err="1"/>
              <a:t>IntelliJ</a:t>
            </a:r>
            <a:r>
              <a:rPr lang="fr-FR" sz="2400" noProof="0" dirty="0"/>
              <a:t> et Visual Studio dominent dans les environnements Java/C#.</a:t>
            </a:r>
          </a:p>
          <a:p>
            <a:pPr>
              <a:spcBef>
                <a:spcPts val="1800"/>
              </a:spcBef>
            </a:pPr>
            <a:r>
              <a:rPr lang="fr-FR" sz="2400" noProof="0" dirty="0"/>
              <a:t>Outils légers (Notepad++, </a:t>
            </a:r>
            <a:r>
              <a:rPr lang="fr-FR" sz="2400" noProof="0" dirty="0" err="1"/>
              <a:t>Vim</a:t>
            </a:r>
            <a:r>
              <a:rPr lang="fr-FR" sz="2400" noProof="0" dirty="0"/>
              <a:t>) restent utilisés par habitude/rapidité.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4E5D6D2-A176-D537-7DDB-2AE56AB71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175" y="1325563"/>
            <a:ext cx="7362825" cy="4440945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A14E07-84FD-D824-BBC1-35B88B9F7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51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B4E06-EE9B-1CFC-EA1C-C64AC353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13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Usages de l’IA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110A1F-C7DA-B7C3-BD5D-E27D0D810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499" y="1584721"/>
            <a:ext cx="4905375" cy="4351338"/>
          </a:xfrm>
        </p:spPr>
        <p:txBody>
          <a:bodyPr>
            <a:normAutofit fontScale="92500" lnSpcReduction="10000"/>
          </a:bodyPr>
          <a:lstStyle/>
          <a:p>
            <a:r>
              <a:rPr lang="fr-FR" b="1" noProof="0" dirty="0"/>
              <a:t>Principaux usages de l’IA </a:t>
            </a:r>
            <a:r>
              <a:rPr lang="fr-FR" noProof="0" dirty="0"/>
              <a:t>:</a:t>
            </a:r>
          </a:p>
          <a:p>
            <a:pPr lvl="1"/>
            <a:r>
              <a:rPr lang="fr-FR" noProof="0" dirty="0"/>
              <a:t>Génération de code</a:t>
            </a:r>
          </a:p>
          <a:p>
            <a:pPr lvl="1"/>
            <a:r>
              <a:rPr lang="fr-FR" noProof="0" dirty="0"/>
              <a:t>Recherche d’information</a:t>
            </a:r>
          </a:p>
          <a:p>
            <a:pPr lvl="1"/>
            <a:r>
              <a:rPr lang="fr-FR" noProof="0" dirty="0" err="1"/>
              <a:t>Debugging</a:t>
            </a:r>
            <a:endParaRPr lang="fr-FR" noProof="0" dirty="0"/>
          </a:p>
          <a:p>
            <a:pPr lvl="1"/>
            <a:r>
              <a:rPr lang="fr-FR" noProof="0" dirty="0"/>
              <a:t>Documentation</a:t>
            </a:r>
          </a:p>
          <a:p>
            <a:pPr lvl="1"/>
            <a:r>
              <a:rPr lang="fr-FR" noProof="0" dirty="0"/>
              <a:t>Résumés / explications</a:t>
            </a:r>
          </a:p>
          <a:p>
            <a:pPr marL="457200" lvl="1" indent="0">
              <a:buNone/>
            </a:pPr>
            <a:endParaRPr lang="fr-FR" noProof="0" dirty="0"/>
          </a:p>
          <a:p>
            <a:pPr algn="just"/>
            <a:r>
              <a:rPr lang="fr-FR" noProof="0" dirty="0"/>
              <a:t>L’IA est un accélérateur, pas encore un remplaçant.</a:t>
            </a:r>
            <a:br>
              <a:rPr lang="fr-FR" noProof="0" dirty="0"/>
            </a:br>
            <a:r>
              <a:rPr lang="fr-FR" noProof="0" dirty="0"/>
              <a:t>Elle optimise la productivité mais ne restructure pas entièrement le workflow.</a:t>
            </a:r>
          </a:p>
          <a:p>
            <a:endParaRPr lang="fr-FR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7B773E-E556-6A73-C0F8-125C79DA0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25" y="1343818"/>
            <a:ext cx="6848474" cy="4833145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E08783-3CC9-468A-8E29-1479B76D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62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328DC-0B8E-EA51-F00E-158AD925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14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Synthèse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9CFDB0-3DF7-BAD3-370A-7E579882D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fr-FR" sz="2400" noProof="0" dirty="0"/>
              <a:t>Le socle 2024 repose sur web + data, stable et dominant.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Les préférences futures montrent une transition vers :langages modernes (</a:t>
            </a:r>
            <a:r>
              <a:rPr lang="fr-FR" sz="2400" noProof="0" dirty="0" err="1"/>
              <a:t>TypeScript</a:t>
            </a:r>
            <a:r>
              <a:rPr lang="fr-FR" sz="2400" noProof="0" dirty="0"/>
              <a:t>, Go, Rust),bases de données performantes (PostgreSQL, Redis), </a:t>
            </a:r>
            <a:r>
              <a:rPr lang="fr-FR" sz="2400" noProof="0" dirty="0" err="1"/>
              <a:t>frameworks</a:t>
            </a:r>
            <a:r>
              <a:rPr lang="fr-FR" sz="2400" noProof="0" dirty="0"/>
              <a:t> robustes (</a:t>
            </a:r>
            <a:r>
              <a:rPr lang="fr-FR" sz="2400" noProof="0" dirty="0" err="1"/>
              <a:t>React</a:t>
            </a:r>
            <a:r>
              <a:rPr lang="fr-FR" sz="2400" noProof="0" dirty="0"/>
              <a:t>, Next.js).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Le cloud reste dominé par AWS.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L’IA s’installe comme outil de productivité quotidienne.</a:t>
            </a:r>
          </a:p>
          <a:p>
            <a:pPr algn="just">
              <a:spcBef>
                <a:spcPts val="1800"/>
              </a:spcBef>
            </a:pPr>
            <a:r>
              <a:rPr lang="fr-FR" sz="2400" noProof="0" dirty="0"/>
              <a:t>Le marché valorise fortement les compétences rares / niches complexes.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BC0DEB-7236-B48D-084D-D6E08168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41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9D456E-96F0-59D7-561F-0183C43BA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075" y="1343818"/>
            <a:ext cx="10515600" cy="483314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800"/>
              </a:spcBef>
            </a:pPr>
            <a:r>
              <a:rPr lang="fr-FR" b="1" noProof="0" dirty="0"/>
              <a:t>Pour les développeurs</a:t>
            </a:r>
          </a:p>
          <a:p>
            <a:pPr lvl="1"/>
            <a:r>
              <a:rPr lang="fr-FR" noProof="0" dirty="0"/>
              <a:t>Maîtriser JS/TS, Python, SQL</a:t>
            </a:r>
          </a:p>
          <a:p>
            <a:pPr lvl="1"/>
            <a:r>
              <a:rPr lang="fr-FR" noProof="0" dirty="0"/>
              <a:t>Explorer Rust / Go / Scala / </a:t>
            </a:r>
            <a:r>
              <a:rPr lang="fr-FR" noProof="0" dirty="0" err="1"/>
              <a:t>Clojure</a:t>
            </a:r>
            <a:r>
              <a:rPr lang="fr-FR" noProof="0" dirty="0"/>
              <a:t> pour chercher des salaires élevés</a:t>
            </a:r>
          </a:p>
          <a:p>
            <a:pPr lvl="1"/>
            <a:r>
              <a:rPr lang="fr-FR" noProof="0" dirty="0"/>
              <a:t>Choisir son langage selon l’industrie ciblée</a:t>
            </a:r>
          </a:p>
          <a:p>
            <a:pPr>
              <a:spcBef>
                <a:spcPts val="1800"/>
              </a:spcBef>
            </a:pPr>
            <a:r>
              <a:rPr lang="fr-FR" b="1" noProof="0" dirty="0"/>
              <a:t>Pour les entreprises</a:t>
            </a:r>
          </a:p>
          <a:p>
            <a:pPr lvl="1"/>
            <a:r>
              <a:rPr lang="fr-FR" noProof="0" dirty="0"/>
              <a:t>Standardiser autour de JS/TS + Python + SQL</a:t>
            </a:r>
          </a:p>
          <a:p>
            <a:pPr lvl="1"/>
            <a:r>
              <a:rPr lang="fr-FR" noProof="0" dirty="0"/>
              <a:t>Investir dans la formation SQL</a:t>
            </a:r>
          </a:p>
          <a:p>
            <a:pPr lvl="1"/>
            <a:r>
              <a:rPr lang="fr-FR" noProof="0" dirty="0"/>
              <a:t>Offrir des modes de travail </a:t>
            </a:r>
            <a:r>
              <a:rPr lang="fr-FR" noProof="0" dirty="0" err="1"/>
              <a:t>Remote</a:t>
            </a:r>
            <a:r>
              <a:rPr lang="fr-FR" noProof="0" dirty="0"/>
              <a:t>/</a:t>
            </a:r>
            <a:r>
              <a:rPr lang="fr-FR" noProof="0" dirty="0" err="1"/>
              <a:t>Hybrid</a:t>
            </a:r>
            <a:endParaRPr lang="fr-FR" noProof="0" dirty="0"/>
          </a:p>
          <a:p>
            <a:pPr lvl="1"/>
            <a:r>
              <a:rPr lang="fr-FR" noProof="0" dirty="0"/>
              <a:t>Moderniser les systèmes vers Rust/Go</a:t>
            </a:r>
          </a:p>
          <a:p>
            <a:pPr>
              <a:spcBef>
                <a:spcPts val="1800"/>
              </a:spcBef>
            </a:pPr>
            <a:r>
              <a:rPr lang="fr-FR" b="1" noProof="0" dirty="0"/>
              <a:t>Pour les formations</a:t>
            </a:r>
          </a:p>
          <a:p>
            <a:pPr lvl="1"/>
            <a:r>
              <a:rPr lang="fr-FR" noProof="0" dirty="0"/>
              <a:t>Enseigner Python et SQL d’abord</a:t>
            </a:r>
          </a:p>
          <a:p>
            <a:pPr lvl="1"/>
            <a:r>
              <a:rPr lang="fr-FR" noProof="0" dirty="0"/>
              <a:t>Introduire Rust/Go</a:t>
            </a:r>
          </a:p>
          <a:p>
            <a:pPr lvl="1"/>
            <a:r>
              <a:rPr lang="fr-FR" noProof="0" dirty="0"/>
              <a:t>Former selon les tendances industrielles observées</a:t>
            </a:r>
          </a:p>
          <a:p>
            <a:endParaRPr lang="fr-FR" noProof="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EB55708-C61A-1145-D6F7-DA64D9B9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15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Recommandations 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2C7B34-2EDD-B85F-F789-510C5A3B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5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62D9-222A-48CD-9D0F-44098D39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ACDB19-EC03-E1E4-590B-3BC04561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Font typeface="+mj-lt"/>
              <a:buAutoNum type="arabicPeriod" startAt="16"/>
            </a:pPr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41A382-AD1D-5DD0-FF59-5A311AAF9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FR" noProof="0" dirty="0"/>
              <a:t>L’enquête reflète une communauté jeune, qualifiée, globalement satisfaite, et orientée vers des technologies modernes.</a:t>
            </a:r>
            <a:br>
              <a:rPr lang="fr-FR" noProof="0" dirty="0"/>
            </a:br>
            <a:r>
              <a:rPr lang="fr-FR" noProof="0" dirty="0"/>
              <a:t>Les tendances observées sont cohérentes avec la dynamique actuelle du marché : </a:t>
            </a:r>
            <a:r>
              <a:rPr lang="fr-FR" b="1" noProof="0" dirty="0"/>
              <a:t>simplicité, performance, flexibilité, cloud, IA</a:t>
            </a:r>
            <a:r>
              <a:rPr lang="fr-FR" noProof="0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B363B7-1E91-ECC2-DF4B-E693BABE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EB04-2D71-43B8-BA68-B2D3B4CEECF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968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1136</Words>
  <Application>Microsoft Office PowerPoint</Application>
  <PresentationFormat>Grand écran</PresentationFormat>
  <Paragraphs>183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Thème Office</vt:lpstr>
      <vt:lpstr>Analyse des tendances technologiques des développeurs – Survey 2024</vt:lpstr>
      <vt:lpstr>Résumé exécutif</vt:lpstr>
      <vt:lpstr>Plan</vt:lpstr>
      <vt:lpstr>Objectifs du projet</vt:lpstr>
      <vt:lpstr>Pipeline Analytique</vt:lpstr>
      <vt:lpstr>Profil des Développeurs</vt:lpstr>
      <vt:lpstr>Profil des Développeurs</vt:lpstr>
      <vt:lpstr>Profil des Développeurs</vt:lpstr>
      <vt:lpstr>Profil des Développeurs</vt:lpstr>
      <vt:lpstr>Langages utilisés</vt:lpstr>
      <vt:lpstr>Langages utilisés</vt:lpstr>
      <vt:lpstr>Langages utilisés</vt:lpstr>
      <vt:lpstr>Langages utilisés</vt:lpstr>
      <vt:lpstr>Langages utilisés</vt:lpstr>
      <vt:lpstr>Langages utilisés</vt:lpstr>
      <vt:lpstr>Langages souhaités &amp; admirés</vt:lpstr>
      <vt:lpstr>Langages souhaités &amp; admirés</vt:lpstr>
      <vt:lpstr>Langages souhaités &amp; admirés</vt:lpstr>
      <vt:lpstr>Salaires par langage</vt:lpstr>
      <vt:lpstr>Salaires par langage</vt:lpstr>
      <vt:lpstr>Bases de données</vt:lpstr>
      <vt:lpstr>Bases de données</vt:lpstr>
      <vt:lpstr>Plateformes</vt:lpstr>
      <vt:lpstr>Plateformes</vt:lpstr>
      <vt:lpstr>Frameworks Web</vt:lpstr>
      <vt:lpstr>Frameworks Web</vt:lpstr>
      <vt:lpstr>Technologies Embedded</vt:lpstr>
      <vt:lpstr>Technologies Embedded</vt:lpstr>
      <vt:lpstr>Systèmes d’Exploitation</vt:lpstr>
      <vt:lpstr>Outils collaboratifs</vt:lpstr>
      <vt:lpstr>Usages de l’IA</vt:lpstr>
      <vt:lpstr>Synthèse </vt:lpstr>
      <vt:lpstr>Recommandations 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Djaid, Salma</dc:creator>
  <cp:lastModifiedBy>Djaid, Salma</cp:lastModifiedBy>
  <cp:revision>4</cp:revision>
  <dcterms:created xsi:type="dcterms:W3CDTF">2025-12-07T19:08:47Z</dcterms:created>
  <dcterms:modified xsi:type="dcterms:W3CDTF">2025-12-08T14:13:20Z</dcterms:modified>
</cp:coreProperties>
</file>